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日本の製造業における生成AI戦略</a:t>
            </a:r>
          </a:p>
          <a:p>
            <a:pPr algn="ctr">
              <a:defRPr sz="2800">
                <a:solidFill>
                  <a:srgbClr val="A0C0E0"/>
                </a:solidFill>
              </a:defRPr>
            </a:pPr>
            <a:r>
              <a:t>— 全社変革のための経営提言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対象: 売上高1,000億円・従業員5,000名規模の製造業企業</a:t>
            </a:r>
          </a:p>
          <a:p>
            <a:pPr algn="ctr">
              <a:defRPr sz="1800">
                <a:solidFill>
                  <a:srgbClr val="CCCCCC"/>
                </a:solidFill>
              </a:defRPr>
            </a:pPr>
            <a:r>
              <a:t>期間: 2026年Q2 〜 2029年（40ヶ月計画）</a:t>
            </a:r>
          </a:p>
          <a:p>
            <a:pPr algn="ctr">
              <a:defRPr sz="1800">
                <a:solidFill>
                  <a:srgbClr val="CCCCCC"/>
                </a:solidFill>
              </a:defRPr>
            </a:pPr>
            <a:r>
              <a:t>作成日: 2026年4月</a:t>
            </a:r>
          </a:p>
          <a:p>
            <a:pPr algn="ctr">
              <a:defRPr sz="1800">
                <a:solidFill>
                  <a:srgbClr val="CCCCCC"/>
                </a:solidFill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25.3億円を投じ、3年でROI 270%を実現する全社AI戦略を今期始動すべき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51760" cy="118872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CDDEE"/>
                </a:solidFill>
              </a:defRPr>
            </a:pPr>
            <a:r>
              <a:t>総投資額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25.3億円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280160"/>
            <a:ext cx="2651760" cy="118872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CDDEE"/>
                </a:solidFill>
              </a:defRPr>
            </a:pPr>
            <a:r>
              <a:t>3年累積リターン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93.5億円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2651760" cy="118872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CDDEE"/>
                </a:solidFill>
              </a:defRPr>
            </a:pPr>
            <a:r>
              <a:t>累積ROI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270%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280160"/>
            <a:ext cx="2651760" cy="118872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CDDEE"/>
                </a:solidFill>
              </a:defRPr>
            </a:pPr>
            <a:r>
              <a:t>投資回収期間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20-22ヶ月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シナリオ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3年累積リターン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回収期間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NPV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ワーストケース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56.1億円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28ヶ月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18.5億円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ベースケース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93.5億円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270%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20-22ヶ月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52.8億円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ベストケース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112.2億円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14ヶ月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71.2億円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0292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結論: ワーストケースでもROI 85%で元本割れなし。最大のリスクは「何もしないこと」（機会損失5年で90-130億円）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フル投資25.3億円を推奨。ステージゲートで段階コミットも可能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A. フル投資（推奨）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B. 段階投資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C. 最小限投資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投資額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25.3億円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12.0億円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5.0億円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対象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Top10ユースケース全て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0-2のみ先行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Quick Win 3案件のみ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期待ROI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150-200%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100-150%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回収期間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20-22ヶ月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18ヶ月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12ヶ月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リスク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極低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推奨度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推奨: オプションA。リスク許容度が低い場合はオプションBから開始し、Phase 1のKPI達成を条件にフル投資へ移行（ステージゲート方式）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AI導入率で米国の半分。2-3年の遅れは不可逆的な競争劣位を生む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AI導入率の国際比較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日本製造業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874519"/>
            <a:ext cx="1280160" cy="3657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79" y="18288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15-20%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中国製造業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697479"/>
            <a:ext cx="2377440" cy="3657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2651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30-35%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米国製造業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520439"/>
            <a:ext cx="274320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4747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35-40%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1148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構造変化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インパクト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① 熟練工の大量退職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2030年までに100万人退職。暗黙知の喪失は不可逆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② AI人材の争奪戦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30万人の需給ギャップ。早期組織立ち上げが採用競争力を左右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③ 生成AIの技術転換点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2026年はマルチモーダルAI・AIエージェントの実用化元年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投資しない場合、5年で90-130億円の価値が失われる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投資する場合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投資しない場合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3年累積効果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+68.2億円（純効果）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△30億円（競争力低下）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5年累積効果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+150億円以上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△90-130億円（不可逆的劣位）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人材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AI人材50-80名確保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優秀人材の離職率+20-30%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市場地位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AI活用で業界Top3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2-3年で追いつけない格差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年次機会損失: Year1 △2億 → Year2 △8億 → Year3 △20億 → Year4-5 △30-50億/年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結論: 「投資しない」は最もリスクの高い選択肢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バリューチェーン全体にAI機会 — Top10 UCで投資15.6億、効果71-124億/年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分類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件数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投資額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年間効果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代表ユースケース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Quick 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39-48億円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ナレッジ基盤、品質レポート、調達支援、手順書、需要予測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Strategic Bet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4件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11.0億円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32-76億円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AI設計アシスタント、SC最適化、予知保全、マテリアルズ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15.6億円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71-124億円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Quick Win案件は技術的成熟度が高く、6ヶ月以内に成果可視化が可能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Strategic Bet案件は中長期の競争優位構築に不可欠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Quick Win 3案件 — 8ヶ月以内に定量成果を経営報告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QW-1: ナレッジ基盤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QW-2: 品質レポートAI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QW-3: 調達支援AI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対象部門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設計部門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品質保証部門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調達部門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投資額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1.5億円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0.8億円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0.6億円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年間効果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10-15億円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18億円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成功KPI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検索時間80%短縮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作成時間90%短縮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調達コスト2%削減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回収期間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6ヶ月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4ヶ月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2ヶ月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技術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RAG + ベクトルDB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LLM + データ連携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LLM + 価格分析AI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なぜこの3案件か: 技術的成熟度が高く、成果を定量化しやすい。経営層への「成功体験の早期提示」に最適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投資25.3億円の全体像 — 隠れコスト3.4億を事前計上し予算超過リスク排除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カテゴリ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3年合計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構成比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技術投資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5.8億円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4.8億円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4.0億円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14.6億円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人材投資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1.8億円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2.3億円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6.1億円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組織投資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0.6億円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0.4億円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0.2億円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1.2億円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隠れコスト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1.8億円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0.6億円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3.4億円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10.0億円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8.2億円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7.1億円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25.3億円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3891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隠れコスト項目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金額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なぜ見落とされるか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既存システム改修（ERP/MES連携）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AI側の開発費のみに注目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データクレンジング・品質向上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「データはある」と過信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セキュリティ強化・ベンダー管理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0.6億円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間接費に埋没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コスト削減54.4億が最大ドライバー。Year2から加速するJ-カーブ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カテゴリ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3年累計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売上向上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9.0億円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22.4億円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32.2億円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コスト削減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2.8億円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15.6億円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36.0億円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54.4億円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生産性向上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0.3億円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4.8億円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6.9億円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総リターン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3.9億円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26.4億円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63.2億円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93.5億円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純効果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△6.1億円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+18.2億円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+56.1億円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+68.2億円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J-カーブモデル: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Year 1 = 投資フェーズ（純効果 △6.1億円）← AI導入の正常なJ-カーブ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Year 2 = 加速フェーズ（純効果 +18.2億円）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Year 3 = 収穫フェーズ（純効果 +56.1億円）</a:t>
            </a:r>
          </a:p>
          <a:p>
            <a:pPr>
              <a:defRPr sz="1300">
                <a:solidFill>
                  <a:srgbClr val="000000"/>
                </a:solidFill>
              </a:defRPr>
            </a:pP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段階的発現率: Year1=40% / Year2=60% / Year3=80% で保守的に見積もり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ワーストケースでもROI 85%、元本割れリスクなし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変動要因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ワーストの仮定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それでも…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効果発現率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さらに60%に圧縮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リターン56.1億円（投資の2.2倍）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コスト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予算の120%超過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追加5.1億円でも吸収可能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両方同時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発現60% &amp; コスト120%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ROI 85%、回収28ヶ月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シナリオ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NPV (WACC 8%)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投資判断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ワーストケース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18.5億円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✅ Go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ベースケース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52.8億円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115%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✅ Go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ベストケース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71.2億円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✅ Go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全シナリオでNPV &gt; 0、IRR &gt; WACC（8%）。投資判断は全シナリオで「Go」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40ヶ月ロードマップ — 5フェーズ、最初の8ヶ月が勝負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焦点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投資額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成功基準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稟議承認、CoE発足、基盤整備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2.0億円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取締役会で25.3億円承認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1 ★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5-8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Quick Win 3案件で成果可視化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3案件中2案件でKPI達成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全社展開、AIプラットフォーム構築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5.0億円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累積効果計画の60%以上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15-28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AI-Native業務転換、新規事業検証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8.5億円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AI成熟度Lv3.5以上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29-40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独自AIモデル、業界リーダー確立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6.8億円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累積ROI 200%以上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★ 最重要マイルストーン: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Month 4: 稟議承認・CoE発足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Month 8: Quick Win成果発表（経営報告会）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Month 14: 全社AIプラットフォーム稼働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ハイブリッド型CoE(10-15名)＋部門AIチャンピオンの二層構造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推進体制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CEO / 経営会議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↓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CDO（AI統括役員）← 経営直轄で任命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↓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AI Center of Excellence（コア10-15名）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・AIストラテジスト 2名  ・データエンジニア 3名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・MLエンジニア 3名      ・MLOpsエンジニア 2名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↓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各事業部門のAIチャンピオン（各2-3名、全社15-20名）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→ 現場発のユースケース発掘 + AI活用推進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7548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アクション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成果目標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Day 1-30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全従業員向けAIツール提供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DAU 500名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Day 31-60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部門別ワークショップ10部門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業務改善事例10件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Day 61-90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AI活用コンテスト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アーリーアダプター200名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Build 40%/Buy 35%/Partner 25%のハイブリッド技術戦略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技術領域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投資額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社内ナレッジ基盤（RAG）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差別化データ活用。競争優位の源泉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3.5億円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品質検査AI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自社品質ノウハウの内包。模倣困難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LLM基盤（API）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コモディティ。マルチモデルでロックイン回避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4.3億円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営業支援AI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SaaS活用でTTV最短化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設計AI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OTベンダー＋専門知識が必要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3.0億円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モデル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配分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技術文書分析、品質レポート、コード生成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GPT-4o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翻訳、設計支援、マルチモーダル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大量バッチ処理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OSS（Llama等）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エッジAI、オンプレミス展開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4段階ステージゲートで投資リスクをコントロール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判断時期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累積投資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Go（継続）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Scale Down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0末（M4）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2.0億円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稟議承認取得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1案件のみ（5億に縮小）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稟議否決→中止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1末（M8）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5.0億円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3案件中2案件成功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成功案件のみ（15億に縮小）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0成功→中止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2末（M14）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10.0億円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効果計画60%以上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高ROI集中（20億に縮小）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30%未満→撤退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3末（M28）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18.5億円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成熟度Lv3.5以上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Core案件のみ継続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Lv2.5未満→中止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Scale Downしても基盤資産（データ基盤、CoE組織、AI人材）は残る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完全な「沈没コスト」にはならない。他のDX施策にも転用可能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メッセージ: 全額を一度にコミットする必要はない。各フェーズの成果を見てから次を判断できる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6カテゴリ23項目のリスクを特定、年間1-1.4億の対策で保護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リスクカテゴリ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項目数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最大リスク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対応コスト/年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残余リスク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技術リスク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AI精度不足、データ品質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5,000万円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セキュリティ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3項目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機密漏洩、不正アクセス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3,000万円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規制（EU AI Act）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高リスクAI 4件該当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2,000万円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人材リスク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3項目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AI人材流出、スキル不足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2,000万円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組織リスク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現場抵抗、組合対応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1,000万円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戦略リスク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5項目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★不作為リスク（最大）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23項目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1.0-1.4億円/年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安全クリティカル領域（品質検査AI・予知保全AI・作業手順書AI）では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Human-in-the-Loop（人間の最終確認）を必須化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最大の戦略リスクは「何もしないこと」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11480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✅ 投資する場合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投資: 25.3億円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ワーストROI: 85%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→ 元本割れなし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リスクは限定的かつ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ステージゲートで制御可能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推奨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03520" cy="4114800"/>
          </a:xfrm>
          <a:prstGeom prst="roundRect">
            <a:avLst/>
          </a:prstGeom>
          <a:solidFill>
            <a:srgbClr val="FDE0D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❌ 投資しない場合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投資: 0円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5年損失: 90-130億円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→ 不可逆的劣位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リスクは巨大かつ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  <a:r>
              <a:t>制御不能</a:t>
            </a:r>
          </a:p>
          <a:p>
            <a:pPr>
              <a:defRPr sz="1500" b="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C0392B"/>
                </a:solidFill>
              </a:defRPr>
            </a:pPr>
            <a:r>
              <a:t>最大リスク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「この投資の論点は『やるべきか否か』ではなく『どの速度で実行するか』である」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稟議承認後の最初の100日計画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アクション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成果物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Week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経営会議プレゼン＋質疑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経営層のコミットメント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Week 2-4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稟議書作成・回付・承認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★ 3年投資計画の正式承認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CDO任命、CoE発足（5名）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組織図、ミッション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データ棚卸し、Quick Win計画策定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PoC計画書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AI基盤セットアップ、セキュリティ審査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技術基盤完了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Month 5-8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Quick Win 3案件PoC実行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★ 定量成果の経営報告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Phase 0（稟議＋基盤整備）とPhase 1（Quick Win）の合計8ヶ月が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この戦略全体の成否を決める最重要期間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今日お願いしたいのは1つだけ — 稟議プロセスの開始承認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144000" cy="109728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①  CDO候補の選定を指示する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9144000" cy="109728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②  稟議書の作成を戦略企画部に指示する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572000"/>
            <a:ext cx="9144000" cy="109728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③  次回経営会議の議題に「AI戦略」を設定する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この3つが「最初の一歩」。稟議承認後はPhase 0-1の8ヶ月間で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Quick Winの成果を可視化し、全社の不可逆的コミットメントを確保します。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想定Q&amp;A — 経営層から出る5つの質問への回答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4007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質問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回答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参照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本当にROI 270%出るのか？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段階的発現率で保守設計。ワーストでもROI 85%で元本割れなし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6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AI人材は確保できるのか？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採用30%/育成50%/外部20%。OT人材リスキリングで外部依存抑制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情報漏洩リスクは？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Enterprise契約+VPC。安全領域はAI自律判断を禁止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8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現場の抵抗にどう対応？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労組事前説明、Quick Winで成功体験、AIチャンピオン制度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撤退できるか？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4段階ステージゲート。Phase 1後縮小でも基盤資産は残存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Phase 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Appendix参照ガイド — 詳細レポートの所在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タイトル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主要内容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エグゼクティブサマリー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3投資オプション、KPIサマリー、用語集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業界・企業の現状分析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PESTEL交差分析、Porter's 5 Forces、利益プール予測、AI×OT差別化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バリューチェーンAI機会マッピング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Top10 UC、セグメント別戦略、BCGアンビションマトリクス、攻めのAI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技術アーキテクチャ戦略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Build/Buy/Partner、OTベンダー協業、MLOps運用、マルチモデル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組織・人材戦略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CoE設計、労組対応、現場キーマン、チェンジマネジメント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 ★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財務モデル（マスターP&amp;L）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全数値のSingle Source of Truth。投資25.3億、ROI 270%、感度分析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実行ロードマップ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40ヶ月5フェーズ、稟議プロセス、撤退基準、技術依存関係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リスク管理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23項目、EU AI Act分類、戦略リスク、ハルシネーション3層防御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全数値は Phase 6: マスターP&amp;L と整合しています。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不明点は各Phaseの詳細レポートをご参照ください。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